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utput/icons/cover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77724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DOOMCHIT CHARACTER BIBLE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77240" y="324612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F4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XX파티 키우기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42519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그림으로 보는 관계·캐릭터 정리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둠칫 플랫폼 캐릭터 설계 작업본 · 2026.09.03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자료 보는 법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색깔 = 소속 그룹</a:t>
            </a:r>
            <a:endParaRPr lang="en-US" sz="1500" dirty="0"/>
          </a:p>
        </p:txBody>
      </p:sp>
      <p:pic>
        <p:nvPicPr>
          <p:cNvPr id="5" name="Image 0" descr="/home/claude/output/icons/group_maj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2697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마족</a:t>
            </a:r>
            <a:endParaRPr lang="en-US" sz="1100" dirty="0"/>
          </a:p>
        </p:txBody>
      </p:sp>
      <p:pic>
        <p:nvPicPr>
          <p:cNvPr id="7" name="Image 1" descr="/home/claude/output/icons/group_par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874520"/>
            <a:ext cx="777240" cy="7772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063240" y="2697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용사파티 후보</a:t>
            </a:r>
            <a:endParaRPr lang="en-US" sz="1100" dirty="0"/>
          </a:p>
        </p:txBody>
      </p:sp>
      <p:pic>
        <p:nvPicPr>
          <p:cNvPr id="9" name="Image 2" descr="/home/claude/output/icons/group_ra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74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760720" y="2697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이종족</a:t>
            </a:r>
            <a:endParaRPr lang="en-US" sz="1100" dirty="0"/>
          </a:p>
        </p:txBody>
      </p:sp>
      <p:pic>
        <p:nvPicPr>
          <p:cNvPr id="11" name="Image 3" descr="/home/claude/output/icons/group_n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874520"/>
            <a:ext cx="777240" cy="7772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458200" y="2697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 인물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50292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동그라미 그림 = 캐릭터 아이콘 (직업·역할을 상징)</a:t>
            </a:r>
            <a:endParaRPr lang="en-US" sz="1500" dirty="0"/>
          </a:p>
        </p:txBody>
      </p:sp>
      <p:pic>
        <p:nvPicPr>
          <p:cNvPr id="14" name="Image 4" descr="/home/claude/output/icons/magwa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86200"/>
            <a:ext cx="685800" cy="685800"/>
          </a:xfrm>
          <a:prstGeom prst="rect">
            <a:avLst/>
          </a:prstGeom>
        </p:spPr>
      </p:pic>
      <p:pic>
        <p:nvPicPr>
          <p:cNvPr id="15" name="Image 5" descr="/home/claude/output/icons/gungs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0280" y="3886200"/>
            <a:ext cx="685800" cy="685800"/>
          </a:xfrm>
          <a:prstGeom prst="rect">
            <a:avLst/>
          </a:prstGeom>
        </p:spPr>
      </p:pic>
      <p:pic>
        <p:nvPicPr>
          <p:cNvPr id="16" name="Image 6" descr="/home/claude/output/icons/heukmas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3320" y="3886200"/>
            <a:ext cx="685800" cy="685800"/>
          </a:xfrm>
          <a:prstGeom prst="rect">
            <a:avLst/>
          </a:prstGeom>
        </p:spPr>
      </p:pic>
      <p:pic>
        <p:nvPicPr>
          <p:cNvPr id="17" name="Image 7" descr="/home/claude/output/icons/darkelf_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3886200"/>
            <a:ext cx="685800" cy="68580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관계도의 선 = 관계 종류</a:t>
            </a:r>
            <a:endParaRPr lang="en-US" sz="1500" dirty="0"/>
          </a:p>
        </p:txBody>
      </p:sp>
      <p:sp>
        <p:nvSpPr>
          <p:cNvPr id="19" name="Shape 9"/>
          <p:cNvSpPr/>
          <p:nvPr/>
        </p:nvSpPr>
        <p:spPr>
          <a:xfrm>
            <a:off x="777240" y="5532120"/>
            <a:ext cx="45720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20" name="Text 10"/>
          <p:cNvSpPr/>
          <p:nvPr/>
        </p:nvSpPr>
        <p:spPr>
          <a:xfrm>
            <a:off x="1325880" y="53218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굵은 실선 = 확실히 정해진 친한 관계</a:t>
            </a:r>
            <a:endParaRPr lang="en-US" sz="1100" dirty="0"/>
          </a:p>
        </p:txBody>
      </p:sp>
      <p:sp>
        <p:nvSpPr>
          <p:cNvPr id="21" name="Shape 11"/>
          <p:cNvSpPr/>
          <p:nvPr/>
        </p:nvSpPr>
        <p:spPr>
          <a:xfrm>
            <a:off x="777240" y="5943600"/>
            <a:ext cx="457200" cy="0"/>
          </a:xfrm>
          <a:prstGeom prst="line">
            <a:avLst/>
          </a:prstGeom>
          <a:noFill/>
          <a:ln w="31750">
            <a:solidFill>
              <a:srgbClr val="B5B0CC"/>
            </a:solidFill>
            <a:prstDash val="dash"/>
          </a:ln>
        </p:spPr>
      </p:sp>
      <p:sp>
        <p:nvSpPr>
          <p:cNvPr id="22" name="Text 12"/>
          <p:cNvSpPr/>
          <p:nvPr/>
        </p:nvSpPr>
        <p:spPr>
          <a:xfrm>
            <a:off x="1325880" y="57332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점선 = 느슨하게 자연스럽게 이어지는 관계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309360" y="5532120"/>
            <a:ext cx="457200" cy="0"/>
          </a:xfrm>
          <a:prstGeom prst="line">
            <a:avLst/>
          </a:prstGeom>
          <a:noFill/>
          <a:ln w="31750">
            <a:solidFill>
              <a:srgbClr val="8B2635"/>
            </a:solidFill>
            <a:prstDash val="solid"/>
          </a:ln>
        </p:spPr>
      </p:sp>
      <p:sp>
        <p:nvSpPr>
          <p:cNvPr id="24" name="Text 14"/>
          <p:cNvSpPr/>
          <p:nvPr/>
        </p:nvSpPr>
        <p:spPr>
          <a:xfrm>
            <a:off x="6858000" y="53218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 선 = 마족들의 관계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309360" y="5943600"/>
            <a:ext cx="457200" cy="0"/>
          </a:xfrm>
          <a:prstGeom prst="line">
            <a:avLst/>
          </a:prstGeom>
          <a:noFill/>
          <a:ln w="31750">
            <a:solidFill>
              <a:srgbClr val="44507A"/>
            </a:solidFill>
            <a:prstDash val="solid"/>
          </a:ln>
        </p:spPr>
      </p:sp>
      <p:sp>
        <p:nvSpPr>
          <p:cNvPr id="26" name="Text 16"/>
          <p:cNvSpPr/>
          <p:nvPr/>
        </p:nvSpPr>
        <p:spPr>
          <a:xfrm>
            <a:off x="6858000" y="57332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남색 선 = 국가·조직 관계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네 그룹, 한눈에 보기</a:t>
            </a:r>
            <a:endParaRPr lang="en-US" sz="2500" dirty="0"/>
          </a:p>
        </p:txBody>
      </p:sp>
      <p:pic>
        <p:nvPicPr>
          <p:cNvPr id="4" name="Image 0" descr="/home/claude/output/icons/group_maj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0515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마족</a:t>
            </a:r>
            <a:endParaRPr lang="en-US" sz="1400" dirty="0"/>
          </a:p>
        </p:txBody>
      </p:sp>
      <p:pic>
        <p:nvPicPr>
          <p:cNvPr id="6" name="Image 1" descr="/home/claude/output/icons/group_par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051560"/>
            <a:ext cx="1371600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용사파티 후보</a:t>
            </a:r>
            <a:endParaRPr lang="en-US" sz="1400" dirty="0"/>
          </a:p>
        </p:txBody>
      </p:sp>
      <p:pic>
        <p:nvPicPr>
          <p:cNvPr id="8" name="Image 2" descr="/home/claude/output/icons/group_n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4526280"/>
            <a:ext cx="1371600" cy="1371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412480" y="5943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나머지 인물</a:t>
            </a:r>
            <a:endParaRPr lang="en-US" sz="1400" dirty="0"/>
          </a:p>
        </p:txBody>
      </p:sp>
      <p:pic>
        <p:nvPicPr>
          <p:cNvPr id="10" name="Image 3" descr="/home/claude/output/icons/group_ra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4526280"/>
            <a:ext cx="1371600" cy="1371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5943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이종족</a:t>
            </a:r>
            <a:endParaRPr lang="en-US" sz="1400" dirty="0"/>
          </a:p>
        </p:txBody>
      </p:sp>
      <p:pic>
        <p:nvPicPr>
          <p:cNvPr id="12" name="Image 4" descr="/home/claude/output/icons/cover_her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880360"/>
            <a:ext cx="1097280" cy="109728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16636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 × 용사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이야기축</a:t>
            </a:r>
            <a:endParaRPr lang="en-US" sz="1050" dirty="0"/>
          </a:p>
        </p:txBody>
      </p:sp>
      <p:sp>
        <p:nvSpPr>
          <p:cNvPr id="14" name="Shape 7"/>
          <p:cNvSpPr/>
          <p:nvPr/>
        </p:nvSpPr>
        <p:spPr>
          <a:xfrm>
            <a:off x="2651760" y="2286000"/>
            <a:ext cx="2880360" cy="1143000"/>
          </a:xfrm>
          <a:prstGeom prst="line">
            <a:avLst/>
          </a:prstGeom>
          <a:noFill/>
          <a:ln w="28575">
            <a:solidFill>
              <a:srgbClr val="8B2635"/>
            </a:solidFill>
            <a:prstDash val="solid"/>
          </a:ln>
        </p:spPr>
      </p:sp>
      <p:sp>
        <p:nvSpPr>
          <p:cNvPr id="15" name="Shape 8"/>
          <p:cNvSpPr/>
          <p:nvPr/>
        </p:nvSpPr>
        <p:spPr>
          <a:xfrm flipV="1">
            <a:off x="6629400" y="2286000"/>
            <a:ext cx="2423160" cy="1143000"/>
          </a:xfrm>
          <a:prstGeom prst="line">
            <a:avLst/>
          </a:prstGeom>
          <a:noFill/>
          <a:ln w="28575">
            <a:solidFill>
              <a:srgbClr val="C9A227"/>
            </a:solidFill>
            <a:prstDash val="solid"/>
          </a:ln>
        </p:spPr>
      </p:sp>
      <p:sp>
        <p:nvSpPr>
          <p:cNvPr id="16" name="Shape 9"/>
          <p:cNvSpPr/>
          <p:nvPr/>
        </p:nvSpPr>
        <p:spPr>
          <a:xfrm>
            <a:off x="6629400" y="3794760"/>
            <a:ext cx="2423160" cy="868680"/>
          </a:xfrm>
          <a:prstGeom prst="line">
            <a:avLst/>
          </a:prstGeom>
          <a:noFill/>
          <a:ln w="28575">
            <a:solidFill>
              <a:srgbClr val="44507A"/>
            </a:solidFill>
            <a:prstDash val="dash"/>
          </a:ln>
        </p:spPr>
      </p:sp>
      <p:sp>
        <p:nvSpPr>
          <p:cNvPr id="17" name="Shape 10"/>
          <p:cNvSpPr/>
          <p:nvPr/>
        </p:nvSpPr>
        <p:spPr>
          <a:xfrm flipV="1">
            <a:off x="2651760" y="3794760"/>
            <a:ext cx="2880360" cy="868680"/>
          </a:xfrm>
          <a:prstGeom prst="line">
            <a:avLst/>
          </a:prstGeom>
          <a:noFill/>
          <a:ln w="28575">
            <a:solidFill>
              <a:srgbClr val="3F7D5C"/>
            </a:solidFill>
            <a:prstDash val="dash"/>
          </a:ln>
        </p:spPr>
      </p:sp>
      <p:sp>
        <p:nvSpPr>
          <p:cNvPr id="18" name="Text 11"/>
          <p:cNvSpPr/>
          <p:nvPr/>
        </p:nvSpPr>
        <p:spPr>
          <a:xfrm>
            <a:off x="502920" y="6309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마족은 마왕을 통해, 이종족·국가인물은 파티후보와 개별 연결고리로 이어짐 (점선 = 느슨한 연결)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utput/icons/group_maj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7744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331720" y="182880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4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마족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017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마왕과 그를 따르는 마족 4인 이야기.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다들 마왕을 대하는 방식이 서로 다름.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마족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마왕을 중심으로 한 관계</a:t>
            </a:r>
            <a:endParaRPr lang="en-US" sz="2500" dirty="0"/>
          </a:p>
        </p:txBody>
      </p:sp>
      <p:pic>
        <p:nvPicPr>
          <p:cNvPr id="4" name="Image 0" descr="/home/claude/output/icons/magw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301752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03520" y="45994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063240" y="2103120"/>
            <a:ext cx="3017520" cy="1691640"/>
          </a:xfrm>
          <a:prstGeom prst="line">
            <a:avLst/>
          </a:prstGeom>
          <a:noFill/>
          <a:ln w="25400">
            <a:solidFill>
              <a:srgbClr val="C9A0A6"/>
            </a:solidFill>
            <a:prstDash val="solid"/>
          </a:ln>
        </p:spPr>
      </p:sp>
      <p:pic>
        <p:nvPicPr>
          <p:cNvPr id="7" name="Image 1" descr="/home/claude/output/icons/ke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577340"/>
            <a:ext cx="1051560" cy="10515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286000" y="26563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케른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069080" y="2830068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8B26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069080" y="28300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충성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 flipV="1">
            <a:off x="6080760" y="2103120"/>
            <a:ext cx="3017520" cy="1691640"/>
          </a:xfrm>
          <a:prstGeom prst="line">
            <a:avLst/>
          </a:prstGeom>
          <a:noFill/>
          <a:ln w="25400">
            <a:solidFill>
              <a:srgbClr val="C9A0A6"/>
            </a:solidFill>
            <a:prstDash val="solid"/>
          </a:ln>
        </p:spPr>
      </p:sp>
      <p:pic>
        <p:nvPicPr>
          <p:cNvPr id="12" name="Image 2" descr="/home/claude/output/icons/bark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577340"/>
            <a:ext cx="1051560" cy="10515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321040" y="26563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바르쿠스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086600" y="2830068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8B2635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086600" y="28300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무관심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 flipV="1">
            <a:off x="3063240" y="3794760"/>
            <a:ext cx="3017520" cy="1737360"/>
          </a:xfrm>
          <a:prstGeom prst="line">
            <a:avLst/>
          </a:prstGeom>
          <a:noFill/>
          <a:ln w="25400">
            <a:solidFill>
              <a:srgbClr val="C9A0A6"/>
            </a:solidFill>
            <a:prstDash val="solid"/>
          </a:ln>
        </p:spPr>
      </p:sp>
      <p:pic>
        <p:nvPicPr>
          <p:cNvPr id="17" name="Image 3" descr="/home/claude/output/icons/kabr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460" y="5006340"/>
            <a:ext cx="1051560" cy="10515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286000" y="60853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카브릴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069080" y="4544568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8B2635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069080" y="4544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6080760" y="3794760"/>
            <a:ext cx="3017520" cy="1737360"/>
          </a:xfrm>
          <a:prstGeom prst="line">
            <a:avLst/>
          </a:prstGeom>
          <a:noFill/>
          <a:ln w="25400">
            <a:solidFill>
              <a:srgbClr val="C9A0A6"/>
            </a:solidFill>
            <a:prstDash val="solid"/>
          </a:ln>
        </p:spPr>
      </p:sp>
      <p:pic>
        <p:nvPicPr>
          <p:cNvPr id="22" name="Image 4" descr="/home/claude/output/icons/im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5006340"/>
            <a:ext cx="1051560" cy="10515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321040" y="60853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임프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7086600" y="4544568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8B2635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7086600" y="4544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</a:t>
            </a:r>
            <a:endParaRPr lang="en-US" sz="850" dirty="0"/>
          </a:p>
        </p:txBody>
      </p:sp>
      <p:sp>
        <p:nvSpPr>
          <p:cNvPr id="26" name="Text 19"/>
          <p:cNvSpPr/>
          <p:nvPr/>
        </p:nvSpPr>
        <p:spPr>
          <a:xfrm>
            <a:off x="502920" y="6309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숨겨진 관계: 바르쿠스는 흑마법사(용사파티 소속)와 몰래 손잡고 있음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마족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마왕 — 벨카인 (위장명: 베른)</a:t>
            </a:r>
            <a:endParaRPr lang="en-US" sz="2500" dirty="0"/>
          </a:p>
        </p:txBody>
      </p:sp>
      <p:pic>
        <p:nvPicPr>
          <p:cNvPr id="4" name="Image 0" descr="/home/claude/output/icons/magw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23360" y="1828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마왕 (벨카인 / 베른)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02336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마족 · 크루보드 확정 핵심 캐릭터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023360" y="288036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장난기 넘치는 최강자. 위험한 상대를 키워보는 게 세상에서 제일 재밌음.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상대가 진심으로 포기하는 순간, 흥미를 완전히 잃어버림.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023360" y="4480560"/>
            <a:ext cx="7498080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23360" y="46177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용사에게는 정체를 숨긴 스승이자 동료 — "매번 달라져서 질리지 않는 유일한 상대"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023360" y="53035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ENTP · 에니어그램 7w8 · Trickster+Mentor→Ruler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마족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케른 · 바르쿠스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k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케른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ESTP · 마족2 · 남 181cm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50017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 앞에서만 순해지는 장난꾸러기 검사.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 명령이면 두말없이 즉시 실행.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5532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5605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한때는 도전자였지만, 진심으로 압도당한 뒤 마왕을 진짜로 따르게 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7920" y="1417320"/>
            <a:ext cx="54406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bark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7064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바르쿠스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747064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INTJ · 마족3 · 남 188cm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437376" y="2587752"/>
            <a:ext cx="50017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신전의 위선을 폭로하고 싶어하는 냉소가.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화나면 말이 청산유수처럼 쏟아짐.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37376" y="5532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37376" y="5605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마왕에게 신전을 엎자고 제안하지만 매번 무시당함 (그래도 답답해할 뿐)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마족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카브릴 · 임프(토드)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kabr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카브릴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INTP · 마족 서브 · 여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50017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 안 보는 냉정한 정보상.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누구와도 깊게 얽히지 않으려 함.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5532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5605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마왕과도 딱 "거래처" 거리감만 유지하는 사이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7920" y="1417320"/>
            <a:ext cx="54406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i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7064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임프 (토드)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747064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ESFP · 92cm · 단일개체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437376" y="2587752"/>
            <a:ext cx="50017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심부름하다 늘 사고 치는 꼬마 마족.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그래도 미워할 수 없는 애교쟁이.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37376" y="5532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37376" y="5605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마왕·마족들의 심부름꾼, 가끔 마왕의 장난감 신세가 되기도 함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utput/icons/group_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7744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331720" y="182880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4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용사파티 후보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017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용사를 포함한 9명의 "함께할 수 있는 동료 후보".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멤버가 아니라 그때그때 골라서 함께함.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용사파티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누가 누구와 가까울까?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V="1">
            <a:off x="4236107" y="2197307"/>
            <a:ext cx="672398" cy="1164627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69629" y="4686300"/>
            <a:ext cx="3405143" cy="9144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5499802" y="4686300"/>
            <a:ext cx="2374969" cy="864418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844598" y="4686300"/>
            <a:ext cx="1030173" cy="864418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36107" y="3361935"/>
            <a:ext cx="3872185" cy="9144"/>
          </a:xfrm>
          <a:prstGeom prst="line">
            <a:avLst/>
          </a:prstGeom>
          <a:noFill/>
          <a:ln w="28575">
            <a:solidFill>
              <a:srgbClr val="BDB8D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5499802" y="3361935"/>
            <a:ext cx="2608491" cy="2188783"/>
          </a:xfrm>
          <a:prstGeom prst="line">
            <a:avLst/>
          </a:prstGeom>
          <a:noFill/>
          <a:ln w="28575">
            <a:solidFill>
              <a:srgbClr val="BDB8D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172200" y="914400"/>
            <a:ext cx="9144" cy="822960"/>
          </a:xfrm>
          <a:prstGeom prst="line">
            <a:avLst/>
          </a:prstGeom>
          <a:noFill/>
          <a:ln w="31750">
            <a:solidFill>
              <a:srgbClr val="8B2635"/>
            </a:solidFill>
            <a:prstDash val="solid"/>
          </a:ln>
        </p:spPr>
      </p:sp>
      <p:pic>
        <p:nvPicPr>
          <p:cNvPr id="11" name="Image 0" descr="/home/claude/output/icons/magw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45720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94960" y="1399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</a:t>
            </a:r>
            <a:endParaRPr lang="en-US" sz="1050" dirty="0"/>
          </a:p>
        </p:txBody>
      </p:sp>
      <p:pic>
        <p:nvPicPr>
          <p:cNvPr id="13" name="Image 1" descr="/home/claude/output/icons/yongs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40" y="1257300"/>
            <a:ext cx="960120" cy="9601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22448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용사</a:t>
            </a:r>
            <a:endParaRPr lang="en-US" sz="1050" dirty="0"/>
          </a:p>
        </p:txBody>
      </p:sp>
      <p:pic>
        <p:nvPicPr>
          <p:cNvPr id="15" name="Image 2" descr="/home/claude/output/icons/ign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835" y="1717247"/>
            <a:ext cx="960120" cy="9601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58655" y="2704799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이그나트</a:t>
            </a:r>
            <a:endParaRPr lang="en-US" sz="1050" dirty="0"/>
          </a:p>
        </p:txBody>
      </p:sp>
      <p:pic>
        <p:nvPicPr>
          <p:cNvPr id="17" name="Image 3" descr="/home/claude/output/icons/heukmas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8233" y="2881875"/>
            <a:ext cx="960120" cy="9601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31053" y="3869427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흑마법사</a:t>
            </a:r>
            <a:endParaRPr lang="en-US" sz="1050" dirty="0"/>
          </a:p>
        </p:txBody>
      </p:sp>
      <p:pic>
        <p:nvPicPr>
          <p:cNvPr id="19" name="Image 4" descr="/home/claude/output/icons/saj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711" y="4206240"/>
            <a:ext cx="960120" cy="9601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097531" y="51937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사제</a:t>
            </a:r>
            <a:endParaRPr lang="en-US" sz="1050" dirty="0"/>
          </a:p>
        </p:txBody>
      </p:sp>
      <p:pic>
        <p:nvPicPr>
          <p:cNvPr id="21" name="Image 5" descr="/home/claude/output/icons/uiw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538" y="5070658"/>
            <a:ext cx="960120" cy="96012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067358" y="605821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의원</a:t>
            </a:r>
            <a:endParaRPr lang="en-US" sz="1050" dirty="0"/>
          </a:p>
        </p:txBody>
      </p:sp>
      <p:pic>
        <p:nvPicPr>
          <p:cNvPr id="23" name="Image 6" descr="/home/claude/output/icons/seongnye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9742" y="5070658"/>
            <a:ext cx="960120" cy="9601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722562" y="605821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성녀</a:t>
            </a:r>
            <a:endParaRPr lang="en-US" sz="1050" dirty="0"/>
          </a:p>
        </p:txBody>
      </p:sp>
      <p:pic>
        <p:nvPicPr>
          <p:cNvPr id="25" name="Image 7" descr="/home/claude/output/icons/beir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9569" y="4206240"/>
            <a:ext cx="960120" cy="96012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3692389" y="51937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베이라</a:t>
            </a:r>
            <a:endParaRPr lang="en-US" sz="1050" dirty="0"/>
          </a:p>
        </p:txBody>
      </p:sp>
      <p:pic>
        <p:nvPicPr>
          <p:cNvPr id="27" name="Image 8" descr="/home/claude/output/icons/gungsu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56047" y="2881875"/>
            <a:ext cx="960120" cy="960120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3458867" y="3869427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궁수</a:t>
            </a:r>
            <a:endParaRPr lang="en-US" sz="1050" dirty="0"/>
          </a:p>
        </p:txBody>
      </p:sp>
      <p:pic>
        <p:nvPicPr>
          <p:cNvPr id="29" name="Image 9" descr="/home/claude/output/icons/amsalj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445" y="1717247"/>
            <a:ext cx="960120" cy="960120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4131265" y="2704799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암살자</a:t>
            </a:r>
            <a:endParaRPr lang="en-US" sz="1050" dirty="0"/>
          </a:p>
        </p:txBody>
      </p:sp>
      <p:sp>
        <p:nvSpPr>
          <p:cNvPr id="31" name="Text 19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굵은 노란선=확실히 친한 사이 · 점선=흑마법사는 궁수·성녀가 조용히 챙겨주며 자연스럽게 친해짐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용사파티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용사 · 궁수 · 암살자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yong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용사 (에드윈)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ISFJ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몰래 훈련하다 힘들어도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티 안 내는 노력파.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마왕을 정체 숨긴 스승으로 여기며 동경함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9768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gungs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040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궁수 (테론)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555040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ISTP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51713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말없이 위험을 미리 알아채고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조용히 챙겨주는 파수꾼.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1713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1713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암살자와는 말 없이도 통하는 사이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09244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claude/output/icons/amsalj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61848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34516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암살자 (니힐)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934516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ISFP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31189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평소엔 조용히 지켜보다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필요할 때만 정확히 나서는 그림자.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831189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31189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궁수를 말없이 신뢰함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용사파티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법사(여) · 법사(남) · 사제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bei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베이라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INFP · 빙계·수계·땅마법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연구실이 세상에서 제일 좋은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은둔형 얼음마법사.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사제와는 소꿉친구 사이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9768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ign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040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이그나트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555040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INFJ · 화염·바람마법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51713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비밀이 많고 정보는 절대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안 주는 냉정한 불꽃마법사.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1713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1713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마탑주의 현재 제자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09244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claude/output/icons/saj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61848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34516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사제 (요하네스)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934516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ISTJ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31189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다친 사람부터 챙기고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본인은 늘 뒷전인 신관.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831189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31189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법사(베이라)와 소꿉친구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용사파티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의원 · 성녀 · 흑마법사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uiw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의원 (테오)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ESTJ · 야전의원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무리하면 바로 잡아세우는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잔소리 심한 실력파.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사제와는 서로 영역 존중하는 사이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9768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seongny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040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성녀 (아넬리)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555040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ENFJ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51713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생색 안 내고 조용히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 구하고 오는 진짜 성녀.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1713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1713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사제와 같은 치유역할이지만 결이 대비됨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09244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claude/output/icons/heukma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61848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34516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흑마법사 (제니브)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934516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INTP · 해독·저주·트랩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31189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흔들릴수록 연구에 더 파고드는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위험한 걸 좋아하는 학구파.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831189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31189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마탑주와는 前 사제관계(배신감) · 바르쿠스와 비밀 협력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utput/icons/group_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7744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331720" y="182880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4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이종족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017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엘프 4명은 파티에 함께할 수 있고,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드래곤 6마리는 각자 세상을 지키는 독립된 존재.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이종족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하이엘프 · 다크엘프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haielf_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하이엘프 남 (아셀)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오빠 · MBTI INFJ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여동생 얘기만 나오면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보호본능이 폭발하는 오빠.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3246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3319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평소엔 신중, 여동생 일엔 진지해짐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63640" y="141732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haielf_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636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하이엘프 여 (티라)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751636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여동생 · MBTI ENFP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483096" y="258775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몰래 규율을 어기고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바깥세상을 구경하는 말괄량이.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83096" y="3246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83096" y="3319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오빠에게 잔소리 들어도 결국 의지함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39776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claude/output/icons/darkelf_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17880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55648" y="41605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다크엘프 남 (셰인)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1755648" y="452628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ISTP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22376" y="514807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위험할 땐 생각보다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몸이 먼저 나가는 전사.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22376" y="580644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22376" y="58795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다크엘프 여와 서로만 믿는 파트너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263640" y="39776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3" descr="/home/claude/output/icons/darkelf_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4178808"/>
            <a:ext cx="868680" cy="8686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16368" y="41605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다크엘프 여 (헤스티)</a:t>
            </a:r>
            <a:endParaRPr lang="en-US" sz="1650" dirty="0"/>
          </a:p>
        </p:txBody>
      </p:sp>
      <p:sp>
        <p:nvSpPr>
          <p:cNvPr id="28" name="Text 22"/>
          <p:cNvSpPr/>
          <p:nvPr/>
        </p:nvSpPr>
        <p:spPr>
          <a:xfrm>
            <a:off x="7516368" y="452628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ENTJ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6483096" y="514807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계산 끝날 때까진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속내를 절대 안 보이는 책략가.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6483096" y="580644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83096" y="58795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다크엘프 남과 깊이 신뢰하는 사이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7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이종족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드래곤 6종 — 각자 세상을 지키는 존재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/home/claude/output/icons/drago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화이트 · 에이라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27889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설산의 온화한 큰언니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1417320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/home/claude/output/icons/dragon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645920"/>
            <a:ext cx="914400" cy="914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7784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블루 · 아주르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26280" y="27889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말수 적은 바다의 현자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92440" y="1417320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2" descr="/home/claude/output/icons/dragon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45920"/>
            <a:ext cx="914400" cy="9144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37260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레드 · 라하드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321040" y="27889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싸움을 즐기는 사막의 호전파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3" descr="/home/claude/output/icons/dragon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06240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83080" y="4251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골드 · 엘리온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731520" y="5349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나서지 않는 유적의 중재자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297680" y="3977640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4" descr="/home/claude/output/icons/dragon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206240"/>
            <a:ext cx="914400" cy="9144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577840" y="4251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그린 · 실바네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526280" y="5349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장난기 많은 자연 애호가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092440" y="3977640"/>
            <a:ext cx="3611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5" descr="/home/claude/output/icons/dragon_bla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4206240"/>
            <a:ext cx="914400" cy="9144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372600" y="4251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블랙 · 모르칸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321040" y="5349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평소 무심한 산의 큰형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용사파티 후보 아님 — 각자 세상 속 자기 영역을 지키는 개별 존재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utput/icons/grou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77440" y="1417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331720" y="182880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4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나머지 인물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017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나라·지역을 움직이는 사람들.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 파티 밖에서 이야기를 만드는 인물.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나머지 인물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5개 나라·지역과 대표 인물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08760" y="1371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발하임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429000" y="13716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기사의 나라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1371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(기존 설정)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2316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</p:spPr>
      </p:sp>
      <p:pic>
        <p:nvPicPr>
          <p:cNvPr id="9" name="Image 0" descr="/home/claude/output/icons/ba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42032"/>
            <a:ext cx="6858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2423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룬가르드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429000" y="24231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마법의 나라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75320" y="2423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발더 · 로웬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" y="347472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</p:spPr>
      </p:sp>
      <p:pic>
        <p:nvPicPr>
          <p:cNvPr id="14" name="Image 1" descr="/home/claude/output/icons/yongbyeongw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593592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3474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탈론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429000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용병의 나라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275320" y="3474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용병왕 제브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2920" y="452628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</p:spPr>
      </p:sp>
      <p:pic>
        <p:nvPicPr>
          <p:cNvPr id="19" name="Image 2" descr="/home/claude/output/icons/kasi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45152"/>
            <a:ext cx="685800" cy="685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08760" y="4526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자하르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429000" y="4526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사막 교역의 나라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275320" y="45262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카심(숨은 실권자)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02920" y="557784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</p:spPr>
      </p:sp>
      <p:pic>
        <p:nvPicPr>
          <p:cNvPr id="24" name="Image 3" descr="/home/claude/output/icons/seren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696712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08760" y="5577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엘윈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429000" y="5577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신전이 있는 성역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275320" y="5577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대신관 세레나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나머지 인물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용병왕 · 정보길드장 · 마탑주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yongbyeongw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용병왕 (제브)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ESTJ · 탈론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하나로 인정받은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화끈한 카리스마 대장.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정보길드장과 실리로 얽힌 파트너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9768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jeongb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040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정보길드장 (사일러스)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555040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INTJ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51713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손해되는 정보는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절대 먼저 안 주는 브로커.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1713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1713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용병왕과 실리 파트너십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092440" y="1417320"/>
            <a:ext cx="3611880" cy="45720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claude/output/icons/matapj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61848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345168" y="16002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마탑주 (로웬)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9345168" y="196596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ISTJ · 룬가르드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311896" y="2587752"/>
            <a:ext cx="3172968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원칙에는 철저하지만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사적인 자리는 어색해하는 사람.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8311896" y="5532120"/>
            <a:ext cx="31729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311896" y="56052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이그나트=현제자, 흑마법사=前제자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나머지 인물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카심 · 발더 · 세레나 · 시안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output/icons/ka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5564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카심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75564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자하르 · 겉으론 상인조합 단장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" y="258775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정체를 숨긴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사막의 진짜 권력자.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" y="3246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3319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내부에서만 "칸"으로 불림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63640" y="141732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/home/claude/output/icons/ba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618488"/>
            <a:ext cx="868680" cy="8686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6368" y="160020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발더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7516368" y="196596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룬가르드 통치자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483096" y="258775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마도구 수출로 실리를 챙기는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기술관료형 외교관.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83096" y="324612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83096" y="33192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마탑주 로웬과는 별개 인물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39776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claude/output/icons/seren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17880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55648" y="41605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세레나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1755648" y="452628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엘윈 대신관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22376" y="514807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인자하지만 무르지 않은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성역의 어른.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22376" y="580644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22376" y="58795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사제 요하네스를 파견 보낸 원 소속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263640" y="39776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3" descr="/home/claude/output/icons/si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4178808"/>
            <a:ext cx="868680" cy="8686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16368" y="416052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시안</a:t>
            </a:r>
            <a:endParaRPr lang="en-US" sz="1650" dirty="0"/>
          </a:p>
        </p:txBody>
      </p:sp>
      <p:sp>
        <p:nvSpPr>
          <p:cNvPr id="28" name="Text 22"/>
          <p:cNvSpPr/>
          <p:nvPr/>
        </p:nvSpPr>
        <p:spPr>
          <a:xfrm>
            <a:off x="7516368" y="452628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MBTI ESFJ · 탈론 접수직원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6483096" y="5148072"/>
            <a:ext cx="50017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등급과 실적으로만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사람을 대하는 계산형.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6483096" y="5806440"/>
            <a:ext cx="5001768" cy="0"/>
          </a:xfrm>
          <a:prstGeom prst="line">
            <a:avLst/>
          </a:prstGeom>
          <a:noFill/>
          <a:ln w="12700">
            <a:solidFill>
              <a:srgbClr val="E4E1E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83096" y="58795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 오른 손님에게만 살가움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1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관계마다 느낌이 다 다를까?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201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오래 이어지는 이야기에서 "집착·소유욕" 같은 감정만 반복되면 금방 질림.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관계마다 일부러 다른 감정을 배정해뒀음.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423160"/>
            <a:ext cx="1120140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4E1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마왕 × 용사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0" y="24688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자극하며 성장하는 관계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10835640" cy="0"/>
          </a:xfrm>
          <a:prstGeom prst="line">
            <a:avLst/>
          </a:prstGeom>
          <a:noFill/>
          <a:ln w="12700">
            <a:solidFill>
              <a:srgbClr val="EEEC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26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궁수 × 암살자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29260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말 없이도 통하는 동료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383280"/>
            <a:ext cx="10835640" cy="0"/>
          </a:xfrm>
          <a:prstGeom prst="line">
            <a:avLst/>
          </a:prstGeom>
          <a:noFill/>
          <a:ln w="12700">
            <a:solidFill>
              <a:srgbClr val="EEEC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용병왕 × 정보길드장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실리로 얽힌 파트너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835640" cy="0"/>
          </a:xfrm>
          <a:prstGeom prst="line">
            <a:avLst/>
          </a:prstGeom>
          <a:noFill/>
          <a:ln w="12700">
            <a:solidFill>
              <a:srgbClr val="EEEC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마탑주 ↔ 흑마법사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배신감 남은 옛 사제 관계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297680"/>
            <a:ext cx="10835640" cy="0"/>
          </a:xfrm>
          <a:prstGeom prst="line">
            <a:avLst/>
          </a:prstGeom>
          <a:noFill/>
          <a:ln w="12700">
            <a:solidFill>
              <a:srgbClr val="EEEC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법사여(베이라) × 사제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42976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오랜 소꿉친구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754880"/>
            <a:ext cx="10835640" cy="0"/>
          </a:xfrm>
          <a:prstGeom prst="line">
            <a:avLst/>
          </a:prstGeom>
          <a:noFill/>
          <a:ln w="12700">
            <a:solidFill>
              <a:srgbClr val="EEEC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54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성녀 × 사제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47548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일을 하지만 결이 다른 동료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5212080"/>
            <a:ext cx="10835640" cy="0"/>
          </a:xfrm>
          <a:prstGeom prst="line">
            <a:avLst/>
          </a:prstGeom>
          <a:noFill/>
          <a:ln w="12700">
            <a:solidFill>
              <a:srgbClr val="EEEC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212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케른·바르쿠스·카브릴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52120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마족들 사이의 온도차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utput/icons/cover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00584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4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XX파티 키우기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캐릭터 총 35종 · 4개 그룹 · 세계관 5개 국가·지역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8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상세한 캐릭터별 7단 설정은 별도 캐릭터 상세 정리 문서(docx)를 참고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2026-09-03T23:35:21Z</dcterms:created>
  <dcterms:modified xsi:type="dcterms:W3CDTF">2026-09-03T23:35:21Z</dcterms:modified>
</cp:coreProperties>
</file>